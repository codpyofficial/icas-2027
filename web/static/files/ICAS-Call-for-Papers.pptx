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14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C02439-84B7-0DF5-7B50-7D8C06599E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F05A493-95F8-3AFE-B3DD-C38C049446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3D61D77-4108-B112-3FE7-F781E9A5F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E8D2A-82D4-41DD-A19F-68EDBEDA18F5}" type="datetimeFigureOut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7B060C3-3931-7EB7-C12B-0BA6F5ECB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4131B9-26BE-FE78-DBC6-8C7F4F0AE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A67EE-D811-43A2-8E17-5FBE94D5D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701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8E16E6-A69F-DDF9-361B-5A2E6A2C9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B24965-32E5-E824-020B-46DF41C3F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606C48-8FC3-573C-AEAD-58C0A0621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E8D2A-82D4-41DD-A19F-68EDBEDA18F5}" type="datetimeFigureOut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0309410-AA9D-CBDC-7D3F-1985D849A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3CE0D42-8221-D7FB-DD90-F14B2868E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A67EE-D811-43A2-8E17-5FBE94D5D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4912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DBE7A2-D34F-1AA9-BCDE-CD57FCCE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FDB235B-1090-6F6F-5332-C8A7B701A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47459F-6A6A-9099-9865-49513F696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E8D2A-82D4-41DD-A19F-68EDBEDA18F5}" type="datetimeFigureOut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B1C29B-1955-2423-4A3C-298299042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2A70D3B-4FE1-7738-E65C-A7A6B8E7F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A67EE-D811-43A2-8E17-5FBE94D5D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9758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A75E25-08FD-64F5-0FCB-27A380109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73EB45-B92F-F050-3E58-7FEC94E154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41E3F7E-EB79-8027-C0FE-F614103397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944134F-D871-8B55-D640-42880C48C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E8D2A-82D4-41DD-A19F-68EDBEDA18F5}" type="datetimeFigureOut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A1440CD-3DE2-B07A-F964-080C2E261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D0B41EF-9CEA-F57D-A0C0-9FE01AA1F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A67EE-D811-43A2-8E17-5FBE94D5D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1609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E645B8-25F0-9628-88DC-4CEF9D1EA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548323C-2F05-5F40-E2B8-99D3DB64A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9A3FCFC-95E7-F0CF-EDFF-2D122F478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1F75C0E-306C-912E-FB2F-E4937677B6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3B60620-2A46-4CD1-4991-EBD5C28021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014F5FF-3C09-BDAE-A240-56474E3AA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E8D2A-82D4-41DD-A19F-68EDBEDA18F5}" type="datetimeFigureOut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037964B-C6F6-FDB4-20D5-83FB5FF9F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446323A-9105-6ABC-A375-C9797EE54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A67EE-D811-43A2-8E17-5FBE94D5D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9216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52DDEA-036E-9DE4-08CD-678B8EAE2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D7A41BD-5BF6-E993-B55C-3A262800A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E8D2A-82D4-41DD-A19F-68EDBEDA18F5}" type="datetimeFigureOut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68BAAA7-4886-3D36-C7AF-0520315BD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5B3C1B7-388B-AA95-DDA7-AA73C0A15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A67EE-D811-43A2-8E17-5FBE94D5D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109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459677B-5B2B-E674-5BF7-4029483D3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E8D2A-82D4-41DD-A19F-68EDBEDA18F5}" type="datetimeFigureOut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8E5B8BF-109E-67EE-FE14-1E1E4E2E7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073CB5-1F9B-02C6-AAA1-F10D41008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A67EE-D811-43A2-8E17-5FBE94D5D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0963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CA49BA-FD12-1751-5CBA-32D221E5A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64C082-39BF-862E-2757-11B1231CA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2FC8499-BEF9-4A01-3A4F-586FCA39B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FAE34C4-F805-C63F-2F23-F217671E8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E8D2A-82D4-41DD-A19F-68EDBEDA18F5}" type="datetimeFigureOut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A2718B7-7FF6-3F68-4525-4D19E8F7B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939F2D3-FC25-8669-64FE-34F336041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A67EE-D811-43A2-8E17-5FBE94D5D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825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E4CDC9-4DE8-DD71-D656-A6183AC55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9F0580E-BBF0-4EB0-29E8-3D5D5378A2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BF27D31-AEFB-77CA-CCC3-6AACE76C2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497FBB8-6347-42F1-6AE0-8F373F895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E8D2A-82D4-41DD-A19F-68EDBEDA18F5}" type="datetimeFigureOut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2B213C9-4AFA-B29E-FFD0-E3DCF0CEB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B1D77D7-1A50-3AB5-64BE-BDA70BE0A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A67EE-D811-43A2-8E17-5FBE94D5D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6196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F46877-7FD6-1E56-3C4C-CC905206F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2B6F1B7-0C52-58CE-EF8B-BD39AD17E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F1A166-10D8-93E7-A9D4-9E47C1833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E8D2A-82D4-41DD-A19F-68EDBEDA18F5}" type="datetimeFigureOut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60FBDAF-CC8A-F034-E92D-F264E5062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E8BBFA-7603-9421-47AA-986A9125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A67EE-D811-43A2-8E17-5FBE94D5D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533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95ED62D-7529-3D2B-D443-74100880B7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CD75C5D-983A-D151-730C-2B3CB7F2E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C59D0E-960D-DA6E-C16D-714FC3771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E8D2A-82D4-41DD-A19F-68EDBEDA18F5}" type="datetimeFigureOut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B9B1879-6CB7-BDD1-4F8B-51EE761E2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D28978-FE32-637B-063E-086FD0E84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A67EE-D811-43A2-8E17-5FBE94D5D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37842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174A74F-489A-47FE-B488-98B5384AA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31040D3-014B-D435-2C96-97E5EF14F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B736B6-F8A9-AEAC-1AB7-EBD1FF5DDE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E8D2A-82D4-41DD-A19F-68EDBEDA18F5}" type="datetimeFigureOut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186F6B-6AD5-6F75-02B3-139ED439CA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2AA7CE-96D1-4215-819F-EE4CC80E0B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DA67EE-D811-43A2-8E17-5FBE94D5D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5438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A9846A-D270-7B1F-199B-2BE090EA0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16436"/>
            <a:ext cx="9144000" cy="3625128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International Conference</a:t>
            </a:r>
            <a:br>
              <a:rPr lang="en-US" altLang="zh-TW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</a:br>
            <a:r>
              <a:rPr lang="en-US" altLang="zh-TW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on Autonomous Systems, ICAS</a:t>
            </a:r>
            <a:br>
              <a:rPr lang="en-US" altLang="zh-TW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</a:br>
            <a:br>
              <a:rPr lang="en-US" altLang="zh-TW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</a:br>
            <a:r>
              <a:rPr lang="en-US" altLang="zh-TW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Call for Papers</a:t>
            </a:r>
            <a:endParaRPr lang="zh-TW" altLang="en-US" dirty="0">
              <a:latin typeface="jf open 粉圓 2.0" panose="020B0000000000000000" pitchFamily="34" charset="-120"/>
              <a:ea typeface="jf open 粉圓 2.0" panose="020B0000000000000000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0BC0ACC-FE0B-384B-FB3B-E490E181C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" y="3822418"/>
            <a:ext cx="3878180" cy="387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570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B8B5CA-0966-9967-4373-320E8D7C0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54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What We Are Looking For:</a:t>
            </a:r>
            <a:endParaRPr lang="zh-TW" altLang="en-US" sz="5400" dirty="0">
              <a:latin typeface="jf open 粉圓 2.0" panose="020B0000000000000000" pitchFamily="34" charset="-120"/>
              <a:ea typeface="jf open 粉圓 2.0" panose="020B0000000000000000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3F2F13-540B-19AB-8FAC-16758BBCC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742950" indent="-742950">
              <a:buAutoNum type="arabicPeriod"/>
            </a:pPr>
            <a:r>
              <a:rPr lang="en-US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Papers with Workshop</a:t>
            </a:r>
            <a:r>
              <a:rPr lang="zh-TW" altLang="en-US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 </a:t>
            </a:r>
            <a:r>
              <a:rPr lang="en-US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(5 speaking slots available): Papers capable of engaging the audience interactively (explained below)</a:t>
            </a:r>
          </a:p>
          <a:p>
            <a:pPr marL="742950" indent="-742950">
              <a:buAutoNum type="arabicPeriod"/>
            </a:pPr>
            <a:endParaRPr lang="en-US" altLang="zh-TW" sz="4000" dirty="0">
              <a:latin typeface="jf open 粉圓 2.0" panose="020B0000000000000000" pitchFamily="34" charset="-120"/>
              <a:ea typeface="jf open 粉圓 2.0" panose="020B0000000000000000" pitchFamily="34" charset="-120"/>
            </a:endParaRPr>
          </a:p>
          <a:p>
            <a:pPr marL="742950" indent="-742950">
              <a:buAutoNum type="arabicPeriod"/>
            </a:pPr>
            <a:r>
              <a:rPr lang="en-US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Papers without Workshop</a:t>
            </a:r>
            <a:r>
              <a:rPr lang="zh-TW" altLang="en-US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 </a:t>
            </a:r>
            <a:r>
              <a:rPr lang="en-US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(8 speaking slots available): Academic papers relevant to the conference theme</a:t>
            </a:r>
          </a:p>
        </p:txBody>
      </p:sp>
    </p:spTree>
    <p:extLst>
      <p:ext uri="{BB962C8B-B14F-4D97-AF65-F5344CB8AC3E}">
        <p14:creationId xmlns:p14="http://schemas.microsoft.com/office/powerpoint/2010/main" val="4008005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D8352-A7F2-9475-D8A7-B24D30A50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0C201F-56E0-FC58-B3D0-4C59BD50A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54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Papers with Workshop</a:t>
            </a:r>
            <a:endParaRPr lang="zh-TW" altLang="en-US" sz="5400" dirty="0">
              <a:latin typeface="jf open 粉圓 2.0" panose="020B0000000000000000" pitchFamily="34" charset="-120"/>
              <a:ea typeface="jf open 粉圓 2.0" panose="020B0000000000000000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87FAF7-A259-1BDC-B9AD-33B044078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112503"/>
          </a:xfrm>
        </p:spPr>
        <p:txBody>
          <a:bodyPr>
            <a:normAutofit fontScale="92500"/>
          </a:bodyPr>
          <a:lstStyle/>
          <a:p>
            <a:pPr marL="742950" indent="-742950">
              <a:buAutoNum type="arabicPeriod"/>
            </a:pPr>
            <a:r>
              <a:rPr lang="en-US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Format: Deliver a 25-minute presentation in the morning, followed by a 90-minute (1.5-hour) workshop in the afternoon.</a:t>
            </a:r>
          </a:p>
          <a:p>
            <a:pPr marL="742950" indent="-742950">
              <a:buAutoNum type="arabicPeriod"/>
            </a:pPr>
            <a:r>
              <a:rPr lang="en-US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Feedback: Speakers will receive feedback based on attendance—</a:t>
            </a:r>
            <a:r>
              <a:rPr lang="en-US" altLang="zh-TW" sz="4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jf open 粉圓 2.0" panose="020B0000000000000000" pitchFamily="34" charset="-120"/>
                <a:ea typeface="jf open 粉圓 2.0" panose="020B0000000000000000" pitchFamily="34" charset="-120"/>
              </a:rPr>
              <a:t>40% of the workshop registration fees.</a:t>
            </a:r>
          </a:p>
          <a:p>
            <a:pPr marL="742950" indent="-742950">
              <a:buAutoNum type="arabicPeriod"/>
            </a:pPr>
            <a:r>
              <a:rPr lang="en-US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Choose an engaging topic and draw in as many participants as possible!</a:t>
            </a:r>
          </a:p>
        </p:txBody>
      </p:sp>
    </p:spTree>
    <p:extLst>
      <p:ext uri="{BB962C8B-B14F-4D97-AF65-F5344CB8AC3E}">
        <p14:creationId xmlns:p14="http://schemas.microsoft.com/office/powerpoint/2010/main" val="4228092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28A63-36E2-8FBE-8CE3-2FD6FE415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FE2CA3-4C93-806D-3BA5-33164BBF7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54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Papers with Workshop</a:t>
            </a:r>
            <a:endParaRPr lang="zh-TW" altLang="en-US" sz="5400" dirty="0">
              <a:latin typeface="jf open 粉圓 2.0" panose="020B0000000000000000" pitchFamily="34" charset="-120"/>
              <a:ea typeface="jf open 粉圓 2.0" panose="020B0000000000000000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B4A356-9588-0591-B9D0-6624E5622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1125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4.</a:t>
            </a:r>
            <a:r>
              <a:rPr lang="zh-TW" altLang="en-US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 </a:t>
            </a:r>
            <a:r>
              <a:rPr lang="en-US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Speakers are responsible for preparing </a:t>
            </a:r>
            <a:br>
              <a:rPr lang="en-US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</a:br>
            <a:r>
              <a:rPr lang="zh-TW" altLang="en-US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    </a:t>
            </a:r>
            <a:r>
              <a:rPr lang="en-US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all necessary equipment and </a:t>
            </a:r>
            <a:br>
              <a:rPr lang="en-US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</a:br>
            <a:r>
              <a:rPr lang="zh-TW" altLang="en-US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    </a:t>
            </a:r>
            <a:r>
              <a:rPr lang="en-US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environment setups for the workshop, </a:t>
            </a:r>
            <a:r>
              <a:rPr lang="zh-TW" altLang="en-US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 </a:t>
            </a:r>
            <a:br>
              <a:rPr lang="en-US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</a:br>
            <a:r>
              <a:rPr lang="zh-TW" altLang="en-US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    </a:t>
            </a:r>
            <a:r>
              <a:rPr lang="en-US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while attendees will be asked to bring </a:t>
            </a:r>
            <a:br>
              <a:rPr lang="en-US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</a:br>
            <a:r>
              <a:rPr lang="zh-TW" altLang="en-US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    </a:t>
            </a:r>
            <a:r>
              <a:rPr lang="en-US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their own laptops.</a:t>
            </a:r>
          </a:p>
          <a:p>
            <a:pPr marL="0" indent="0">
              <a:buNone/>
            </a:pPr>
            <a:endParaRPr lang="en-US" altLang="zh-TW" sz="4000" dirty="0">
              <a:latin typeface="jf open 粉圓 2.0" panose="020B0000000000000000" pitchFamily="34" charset="-120"/>
              <a:ea typeface="jf open 粉圓 2.0" panose="020B0000000000000000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CEB5D7F-1036-B77E-735F-370A5CB7F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761" y="4119612"/>
            <a:ext cx="2738387" cy="273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785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28A63-36E2-8FBE-8CE3-2FD6FE415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FE2CA3-4C93-806D-3BA5-33164BBF7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54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Papers with Workshop</a:t>
            </a:r>
            <a:endParaRPr lang="zh-TW" altLang="en-US" sz="5400" dirty="0">
              <a:latin typeface="jf open 粉圓 2.0" panose="020B0000000000000000" pitchFamily="34" charset="-120"/>
              <a:ea typeface="jf open 粉圓 2.0" panose="020B0000000000000000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B4A356-9588-0591-B9D0-6624E5622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112503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altLang="zh-TW" sz="36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5. Workshop size: choose 25 or 50 participants, preparing 10 or 20 sets of equipment respectively (if needed).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altLang="zh-TW" sz="36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6. Speakers provide participants with the laptop hardware requirements.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altLang="zh-TW" sz="36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7. At least one teaching assistant (TA) assists in each workshop.</a:t>
            </a:r>
          </a:p>
        </p:txBody>
      </p:sp>
    </p:spTree>
    <p:extLst>
      <p:ext uri="{BB962C8B-B14F-4D97-AF65-F5344CB8AC3E}">
        <p14:creationId xmlns:p14="http://schemas.microsoft.com/office/powerpoint/2010/main" val="554785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FFF93-4FED-80F4-EEDA-66290B9EC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A0ABAA-C6C4-09EE-4660-79EEBB018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54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Papers without Workshop</a:t>
            </a:r>
            <a:endParaRPr lang="zh-TW" altLang="en-US" sz="5400" dirty="0">
              <a:latin typeface="jf open 粉圓 2.0" panose="020B0000000000000000" pitchFamily="34" charset="-120"/>
              <a:ea typeface="jf open 粉圓 2.0" panose="020B0000000000000000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3C7EF4-B17D-3184-A214-4A2D8CD40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112503"/>
          </a:xfrm>
        </p:spPr>
        <p:txBody>
          <a:bodyPr>
            <a:normAutofit lnSpcReduction="1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Format &amp; Schedule: Sessions will run concurrently with the afternoon workshops, with an estimated 15 minutes allocated per speaker.</a:t>
            </a:r>
          </a:p>
          <a:p>
            <a:pPr marL="742950" indent="-742950">
              <a:buFont typeface="+mj-lt"/>
              <a:buAutoNum type="arabicPeriod"/>
            </a:pPr>
            <a:r>
              <a:rPr lang="en-US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Topic Scope: Submissions aligned with the conference theme are warmly welcomed, though topics are not strictly limited to it—any compelling, relevant research is welcome.</a:t>
            </a:r>
          </a:p>
        </p:txBody>
      </p:sp>
    </p:spTree>
    <p:extLst>
      <p:ext uri="{BB962C8B-B14F-4D97-AF65-F5344CB8AC3E}">
        <p14:creationId xmlns:p14="http://schemas.microsoft.com/office/powerpoint/2010/main" val="3823411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40E90-56C3-DF38-2649-0CAC1BBA1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E9BE39-3A87-798F-BF3F-C17730791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54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Conference Theme</a:t>
            </a:r>
            <a:endParaRPr lang="zh-TW" altLang="en-US" sz="5400" dirty="0">
              <a:latin typeface="jf open 粉圓 2.0" panose="020B0000000000000000" pitchFamily="34" charset="-120"/>
              <a:ea typeface="jf open 粉圓 2.0" panose="020B0000000000000000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938819-74A6-E358-8D74-5225670A6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112503"/>
          </a:xfrm>
        </p:spPr>
        <p:txBody>
          <a:bodyPr>
            <a:normAutofit fontScale="30000" lnSpcReduction="20000"/>
          </a:bodyPr>
          <a:lstStyle/>
          <a:p>
            <a:pPr lvl="0"/>
            <a:r>
              <a:rPr lang="zh-TW" altLang="zh-TW" sz="40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Autonomous Robotics</a:t>
            </a:r>
            <a:r>
              <a:rPr lang="zh-TW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: mobile robots, legged and humanoid robots, manipulators, soft robotics.</a:t>
            </a:r>
          </a:p>
          <a:p>
            <a:pPr lvl="0"/>
            <a:r>
              <a:rPr lang="zh-TW" altLang="zh-TW" sz="40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Autonomous Vehicles and Mobility</a:t>
            </a:r>
            <a:r>
              <a:rPr lang="zh-TW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: self-driving cars, unmanned ground, surface and underwater vehicles, space autonomy.</a:t>
            </a:r>
          </a:p>
          <a:p>
            <a:pPr lvl="0"/>
            <a:r>
              <a:rPr lang="zh-TW" altLang="zh-TW" sz="40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Drones and Aerial Autonomy</a:t>
            </a:r>
            <a:r>
              <a:rPr lang="zh-TW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: multirotor and fixed-wing UAVs, autonomous flight control, aerial mapping and inspection, drone swarms, beyond-visual-line-of-sight operations.</a:t>
            </a:r>
          </a:p>
          <a:p>
            <a:pPr lvl="0"/>
            <a:r>
              <a:rPr lang="zh-TW" altLang="zh-TW" sz="40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Edge and Embedded Computing for Autonomy</a:t>
            </a:r>
            <a:r>
              <a:rPr lang="zh-TW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: real-time systems, hardware acceleration, energy efficiency, communication.</a:t>
            </a:r>
          </a:p>
          <a:p>
            <a:pPr lvl="0"/>
            <a:r>
              <a:rPr lang="zh-TW" altLang="zh-TW" sz="40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Perception and Situational Awareness</a:t>
            </a:r>
            <a:r>
              <a:rPr lang="zh-TW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: sensor fusion, SLAM, object detection and tracking, scene understanding.</a:t>
            </a:r>
          </a:p>
          <a:p>
            <a:pPr lvl="0"/>
            <a:r>
              <a:rPr lang="zh-TW" altLang="zh-TW" sz="40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Simulation, Digital Twins and Benchmarking</a:t>
            </a:r>
            <a:r>
              <a:rPr lang="zh-TW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: simulators, datasets, evaluation benchmarks, hardware-in-the-loop testing.</a:t>
            </a:r>
          </a:p>
          <a:p>
            <a:pPr lvl="0"/>
            <a:r>
              <a:rPr lang="zh-TW" altLang="zh-TW" sz="40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Applications of Autonomous Systems</a:t>
            </a:r>
            <a:r>
              <a:rPr lang="zh-TW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: Industry 4.0, agriculture, healthcare, logistics and warehousing, disaster response, smart cities.</a:t>
            </a:r>
          </a:p>
          <a:p>
            <a:pPr lvl="0"/>
            <a:r>
              <a:rPr lang="zh-TW" altLang="zh-TW" sz="40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Control of Autonomous Systems</a:t>
            </a:r>
            <a:r>
              <a:rPr lang="zh-TW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: adaptive control, model predictive control, learning-based control, hybrid systems.</a:t>
            </a:r>
          </a:p>
          <a:p>
            <a:pPr lvl="0"/>
            <a:r>
              <a:rPr lang="zh-TW" altLang="zh-TW" sz="40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Planning, Decision-Making and Reasoning</a:t>
            </a:r>
            <a:r>
              <a:rPr lang="zh-TW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: motion planning, task planning, decision-making under uncertainty, POMDPs.</a:t>
            </a:r>
          </a:p>
          <a:p>
            <a:pPr lvl="0"/>
            <a:r>
              <a:rPr lang="zh-TW" altLang="zh-TW" sz="40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Learning for Autonomy</a:t>
            </a:r>
            <a:r>
              <a:rPr lang="zh-TW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: reinforcement learning, imitation learning, sim-to-real transfer, lifelong learning, foundation models and LLMs in autonomous systems.</a:t>
            </a:r>
          </a:p>
          <a:p>
            <a:pPr lvl="0"/>
            <a:r>
              <a:rPr lang="zh-TW" altLang="zh-TW" sz="40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Multi-Agent and Swarm Autonomy</a:t>
            </a:r>
            <a:r>
              <a:rPr lang="zh-TW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: cooperation, distributed decision-making, coordination under limited communication.</a:t>
            </a:r>
          </a:p>
          <a:p>
            <a:pPr lvl="0"/>
            <a:r>
              <a:rPr lang="zh-TW" altLang="zh-TW" sz="40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Human–Autonomy Teaming and Interaction</a:t>
            </a:r>
            <a:r>
              <a:rPr lang="zh-TW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: shared autonomy, explainability, trust, human-in-the-loop systems.</a:t>
            </a:r>
          </a:p>
          <a:p>
            <a:pPr lvl="0"/>
            <a:r>
              <a:rPr lang="zh-TW" altLang="zh-TW" sz="40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Safety, Assurance and Verification</a:t>
            </a:r>
            <a:r>
              <a:rPr lang="zh-TW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: formal verification, runtime monitoring, safe reinforcement learning, fault detection and tolerance, certification.</a:t>
            </a:r>
          </a:p>
          <a:p>
            <a:pPr lvl="0"/>
            <a:r>
              <a:rPr lang="zh-TW" altLang="zh-TW" sz="40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Security, Privacy and Resilience</a:t>
            </a:r>
            <a:r>
              <a:rPr lang="zh-TW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: adversarial attacks, sensor spoofing, intrusion detection, graceful degradation.</a:t>
            </a:r>
          </a:p>
          <a:p>
            <a:pPr lvl="0"/>
            <a:r>
              <a:rPr lang="zh-TW" altLang="zh-TW" sz="40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Autonomic Computing and Self-* Systems</a:t>
            </a:r>
            <a:r>
              <a:rPr lang="zh-TW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: self-configuration, self-healing, self-optimization, self-adaptive software.</a:t>
            </a:r>
          </a:p>
          <a:p>
            <a:pPr lvl="0"/>
            <a:r>
              <a:rPr lang="zh-TW" altLang="zh-TW" sz="40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Foundations and Architectures of Autonomous Systems</a:t>
            </a:r>
            <a:r>
              <a:rPr lang="zh-TW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: levels of autonomy, cognitive architectures, formal definitions of autonomy.</a:t>
            </a:r>
          </a:p>
          <a:p>
            <a:pPr lvl="0"/>
            <a:r>
              <a:rPr lang="zh-TW" altLang="zh-TW" sz="40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Ethics, Policy and Societal Impact</a:t>
            </a:r>
            <a:r>
              <a:rPr lang="zh-TW" altLang="zh-TW" sz="40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: accountability, standards and regulation, fairness, impact on labor.</a:t>
            </a:r>
          </a:p>
        </p:txBody>
      </p:sp>
    </p:spTree>
    <p:extLst>
      <p:ext uri="{BB962C8B-B14F-4D97-AF65-F5344CB8AC3E}">
        <p14:creationId xmlns:p14="http://schemas.microsoft.com/office/powerpoint/2010/main" val="158000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5CF65-B426-6117-0464-03D48A5F3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CEA172-F2FD-8F62-20BE-672A2D141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54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Proposal Submission Requirements</a:t>
            </a:r>
            <a:endParaRPr lang="zh-TW" altLang="en-US" sz="5400" dirty="0">
              <a:latin typeface="jf open 粉圓 2.0" panose="020B0000000000000000" pitchFamily="34" charset="-120"/>
              <a:ea typeface="jf open 粉圓 2.0" panose="020B0000000000000000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01707B-07EF-FD60-97FB-3DE9CDDEB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920"/>
            <a:ext cx="10515600" cy="5112503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altLang="zh-TW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All submissions must be submitted in English and include the following details:</a:t>
            </a:r>
          </a:p>
          <a:p>
            <a:pPr marL="0" lvl="0" indent="0">
              <a:buNone/>
            </a:pPr>
            <a:r>
              <a:rPr lang="zh-TW" altLang="en-US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    </a:t>
            </a:r>
            <a:r>
              <a:rPr lang="en-US" altLang="zh-TW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Title &amp; Abstract: A concise title and an abstract (max 300 words).</a:t>
            </a:r>
          </a:p>
          <a:p>
            <a:pPr marL="0" lvl="0" indent="0">
              <a:buNone/>
            </a:pPr>
            <a:r>
              <a:rPr lang="zh-TW" altLang="en-US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    </a:t>
            </a:r>
            <a:r>
              <a:rPr lang="en-US" altLang="zh-TW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Session Track: Clear indication of Paper with Workshop</a:t>
            </a:r>
            <a:r>
              <a:rPr lang="zh-TW" altLang="en-US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 </a:t>
            </a:r>
            <a:r>
              <a:rPr lang="en-US" altLang="zh-TW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or Paper without Workshop.</a:t>
            </a:r>
          </a:p>
          <a:p>
            <a:pPr marL="0" lvl="0" indent="0">
              <a:buNone/>
            </a:pPr>
            <a:r>
              <a:rPr lang="zh-TW" altLang="en-US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    </a:t>
            </a:r>
            <a:r>
              <a:rPr lang="en-US" altLang="zh-TW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Outline &amp; Schedule:</a:t>
            </a:r>
          </a:p>
          <a:p>
            <a:pPr marL="0" lvl="0" indent="0">
              <a:buNone/>
            </a:pPr>
            <a:r>
              <a:rPr lang="zh-TW" altLang="en-US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        </a:t>
            </a:r>
            <a:r>
              <a:rPr lang="en-US" altLang="zh-TW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Papers with Workshop: Detailed breakdown of the 25-minute morning session and milestone-based </a:t>
            </a:r>
            <a:br>
              <a:rPr lang="en-US" altLang="zh-TW" sz="15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</a:br>
            <a:r>
              <a:rPr lang="zh-TW" altLang="en-US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        </a:t>
            </a:r>
            <a:r>
              <a:rPr lang="en-US" altLang="zh-TW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progression for the 90-minute workshop.</a:t>
            </a:r>
            <a:br>
              <a:rPr lang="en-US" altLang="zh-TW" sz="15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</a:br>
            <a:r>
              <a:rPr lang="zh-TW" altLang="en-US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        </a:t>
            </a:r>
            <a:r>
              <a:rPr lang="en-US" altLang="zh-TW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Papers without Workshop: Clear breakdown of the 15-minute presentation structure.</a:t>
            </a:r>
          </a:p>
          <a:p>
            <a:pPr marL="0" lvl="0" indent="0">
              <a:buNone/>
            </a:pPr>
            <a:r>
              <a:rPr lang="zh-TW" altLang="en-US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    </a:t>
            </a:r>
            <a:r>
              <a:rPr lang="en-US" altLang="zh-TW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Prerequisites &amp; Toolchain (Papers with Workshop): List of required software, target OS </a:t>
            </a:r>
            <a:br>
              <a:rPr lang="en-US" altLang="zh-TW" sz="15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</a:br>
            <a:r>
              <a:rPr lang="zh-TW" altLang="en-US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    </a:t>
            </a:r>
            <a:r>
              <a:rPr lang="en-US" altLang="zh-TW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compatibility, hardware dependencies, and recommended skill level.</a:t>
            </a:r>
          </a:p>
          <a:p>
            <a:pPr marL="0" lvl="0" indent="0">
              <a:buNone/>
            </a:pPr>
            <a:r>
              <a:rPr lang="zh-TW" altLang="en-US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    </a:t>
            </a:r>
            <a:r>
              <a:rPr lang="en-US" altLang="zh-TW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Workshop Set-up (Papers with Workshop): 25 or 50 participants (10 or 20 equipment sets, if needed), </a:t>
            </a:r>
            <a:br>
              <a:rPr lang="en-US" altLang="zh-TW" sz="15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</a:br>
            <a:r>
              <a:rPr lang="zh-TW" altLang="en-US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    </a:t>
            </a:r>
            <a:r>
              <a:rPr lang="en-US" altLang="zh-TW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laptop hardware requirements for participants, and at least one teaching assistant (TA).</a:t>
            </a:r>
          </a:p>
          <a:p>
            <a:pPr marL="0" lvl="0" indent="0">
              <a:buNone/>
            </a:pPr>
            <a:r>
              <a:rPr lang="zh-TW" altLang="en-US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    </a:t>
            </a:r>
            <a:r>
              <a:rPr lang="en-US" altLang="zh-TW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Interactive Demo Video (Papers with Workshop only):</a:t>
            </a:r>
          </a:p>
          <a:p>
            <a:pPr marL="0" lvl="0" indent="0">
              <a:buNone/>
            </a:pPr>
            <a:r>
              <a:rPr lang="zh-TW" altLang="en-US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        </a:t>
            </a:r>
            <a:r>
              <a:rPr lang="en-US" altLang="zh-TW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A short demonstration video (2–5 minutes) showcasing the functioning prototype, project workflow, or </a:t>
            </a:r>
            <a:br>
              <a:rPr lang="en-US" altLang="zh-TW" sz="15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</a:br>
            <a:r>
              <a:rPr lang="zh-TW" altLang="en-US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        </a:t>
            </a:r>
            <a:r>
              <a:rPr lang="en-US" altLang="zh-TW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target outcomes participants will build during the workshop.</a:t>
            </a:r>
          </a:p>
          <a:p>
            <a:pPr marL="0" lvl="0" indent="0">
              <a:buNone/>
            </a:pPr>
            <a:r>
              <a:rPr lang="en-US" altLang="zh-TW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    Please provide a publicly viewable or unlisted link (e.g., YouTube, Vimeo, Loom, or Google Drive). This </a:t>
            </a:r>
            <a:br>
              <a:rPr lang="en-US" altLang="zh-TW" sz="15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</a:br>
            <a:r>
              <a:rPr lang="en-US" altLang="zh-TW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    video is crucial for the program committee to evaluate technical feasibility and participant engagement.</a:t>
            </a:r>
            <a:br>
              <a:rPr lang="en-US" altLang="zh-TW" sz="15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</a:br>
            <a:endParaRPr lang="en-US" altLang="zh-TW" sz="1500" b="1" dirty="0">
              <a:latin typeface="jf open 粉圓 2.0" panose="020B0000000000000000" pitchFamily="34" charset="-120"/>
              <a:ea typeface="jf open 粉圓 2.0" panose="020B0000000000000000" pitchFamily="34" charset="-120"/>
            </a:endParaRPr>
          </a:p>
          <a:p>
            <a:pPr marL="0" lvl="0" indent="0">
              <a:buNone/>
            </a:pPr>
            <a:r>
              <a:rPr lang="en-US" altLang="zh-TW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    Speaker Bio: Professional background (max 150 words), previous speaking experience, and relevant </a:t>
            </a:r>
            <a:br>
              <a:rPr lang="en-US" altLang="zh-TW" sz="15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</a:br>
            <a:r>
              <a:rPr lang="en-US" altLang="zh-TW" sz="1400" b="1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    project links (e.g., GitHub, Google Scholar, LinkedIn).</a:t>
            </a:r>
          </a:p>
        </p:txBody>
      </p:sp>
    </p:spTree>
    <p:extLst>
      <p:ext uri="{BB962C8B-B14F-4D97-AF65-F5344CB8AC3E}">
        <p14:creationId xmlns:p14="http://schemas.microsoft.com/office/powerpoint/2010/main" val="1289074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8AD9D-26D0-D5B7-710D-4BF7E9D10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9D09DE-B757-5AE1-C483-7B0318EAA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5400" dirty="0">
                <a:latin typeface="jf open 粉圓 2.0" panose="020B0000000000000000" pitchFamily="34" charset="-120"/>
                <a:ea typeface="jf open 粉圓 2.0" panose="020B0000000000000000" pitchFamily="34" charset="-120"/>
              </a:rPr>
              <a:t>Review Criteria</a:t>
            </a:r>
            <a:endParaRPr lang="zh-TW" altLang="en-US" sz="5400" dirty="0">
              <a:latin typeface="jf open 粉圓 2.0" panose="020B0000000000000000" pitchFamily="34" charset="-120"/>
              <a:ea typeface="jf open 粉圓 2.0" panose="020B0000000000000000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24810E-A540-3AB2-2A25-8955106CC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1125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zh-TW" sz="2400" dirty="0"/>
              <a:t>Submissions will undergo double-blind peer review evaluated against the following standards:</a:t>
            </a:r>
          </a:p>
          <a:p>
            <a:pPr lvl="0"/>
            <a:r>
              <a:rPr lang="zh-TW" altLang="zh-TW" sz="2400" b="1" dirty="0"/>
              <a:t>Technical Depth &amp; Originality:</a:t>
            </a:r>
            <a:r>
              <a:rPr lang="zh-TW" altLang="zh-TW" sz="2400" dirty="0"/>
              <a:t> Novelty of the research or practical value of the tooling.</a:t>
            </a:r>
          </a:p>
          <a:p>
            <a:pPr lvl="0"/>
            <a:r>
              <a:rPr lang="zh-TW" altLang="zh-TW" sz="2400" b="1" dirty="0"/>
              <a:t>Clarity &amp; Feasibility:</a:t>
            </a:r>
            <a:r>
              <a:rPr lang="zh-TW" altLang="zh-TW" sz="2400" dirty="0"/>
              <a:t> Feasibility of completing the agenda within the allotted time frame (particularly for 90-minute workshops).</a:t>
            </a:r>
          </a:p>
          <a:p>
            <a:pPr lvl="0"/>
            <a:r>
              <a:rPr lang="zh-TW" altLang="zh-TW" sz="2400" b="1" dirty="0"/>
              <a:t>Engagement Plan:</a:t>
            </a:r>
            <a:r>
              <a:rPr lang="zh-TW" altLang="zh-TW" sz="2400" dirty="0"/>
              <a:t> Degree of meaningful interactivity planned for workshop participants.</a:t>
            </a:r>
          </a:p>
          <a:p>
            <a:pPr lvl="0"/>
            <a:r>
              <a:rPr lang="zh-TW" altLang="zh-TW" sz="2400" b="1" dirty="0"/>
              <a:t>Theme Alignment:</a:t>
            </a:r>
            <a:r>
              <a:rPr lang="zh-TW" altLang="zh-TW" sz="2400" dirty="0"/>
              <a:t> Relevance to current industry and academic trends.</a:t>
            </a:r>
          </a:p>
        </p:txBody>
      </p:sp>
    </p:spTree>
    <p:extLst>
      <p:ext uri="{BB962C8B-B14F-4D97-AF65-F5344CB8AC3E}">
        <p14:creationId xmlns:p14="http://schemas.microsoft.com/office/powerpoint/2010/main" val="3273150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881</Words>
  <Application>Microsoft Office PowerPoint</Application>
  <PresentationFormat>寬螢幕</PresentationFormat>
  <Paragraphs>48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jf open 粉圓 2.0</vt:lpstr>
      <vt:lpstr>Aptos</vt:lpstr>
      <vt:lpstr>Aptos Display</vt:lpstr>
      <vt:lpstr>Arial</vt:lpstr>
      <vt:lpstr>Office 佈景主題</vt:lpstr>
      <vt:lpstr>International Conference on Autonomous, ICAS  Call for Papers</vt:lpstr>
      <vt:lpstr>What We Are Looking For:</vt:lpstr>
      <vt:lpstr>Hands-on Papers</vt:lpstr>
      <vt:lpstr>Hands-on Papers</vt:lpstr>
      <vt:lpstr>Theoretical Papers</vt:lpstr>
      <vt:lpstr>Conference Theme</vt:lpstr>
      <vt:lpstr>Proposal Submission Requirements</vt:lpstr>
      <vt:lpstr>Review Criteria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羿程 王</dc:creator>
  <cp:lastModifiedBy>羿程 王</cp:lastModifiedBy>
  <cp:revision>5</cp:revision>
  <dcterms:created xsi:type="dcterms:W3CDTF">2026-09-22T05:53:36Z</dcterms:created>
  <dcterms:modified xsi:type="dcterms:W3CDTF">2026-09-22T07:08:43Z</dcterms:modified>
</cp:coreProperties>
</file>